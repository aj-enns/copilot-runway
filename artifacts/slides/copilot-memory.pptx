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</p:sldIdLst>
  <p:notesMasterIdLst>
    <p:notesMasterId r:id="rId4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notesMaster" Target="notesMasters/notesMaster1.xml"/><Relationship Id="rId5" Type="http://schemas.openxmlformats.org/officeDocument/2006/relationships/presProps" Target="presProps.xml"/><Relationship Id="rId6" Type="http://schemas.openxmlformats.org/officeDocument/2006/relationships/viewProps" Target="viewProps.xml"/><Relationship Id="rId7" Type="http://schemas.openxmlformats.org/officeDocument/2006/relationships/theme" Target="theme/theme1.xml"/><Relationship Id="rId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what it does, where value comes from, and the bounded control story.,Exact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Copilot Memory: pilot decision, evidence gaps, cost assumptions, and how to start the repeatable demo kit.,Exact lifecycle: public-preview. Public preview across supported Copilot surfaces; repository facts and user preferences have different scopes.,Verification date: 2026-10-14. Evidence older than 30 days requires re-review.,This is independent enablement for a controlled pilot, not production certification or customer-specific approval.,Cost detail: The reviewed Memory documentation does not specify a standalone memory-storage tariff. The underlying CLI, cloud-agent, and other model interactions still follow their billing model. Do not describe memory as unlimited or free because no separate price is listed.,Explicit assumptions:
An eligible account with Memory allowed.
One non-sensitive repository fact in a throwaway demo repository.
No personal information, customer information, or user-scoped preference is stored.,Complete assessment: https://github.com/aj-enns/copilot-runway/blob/main/features/copilot-memory/assessment.md,Presenter runbook: https://github.com/aj-enns/copilot-runway/blob/main/demos/copilot-memory/README.md,Kit validation: kit-tested. Live feature validation: not-run.,Remote cleanup: With the repository owner's authorization, delete only this demo fact in repository Settings &gt; Copilot &gt; Memory. Never clear all memories.,Primary sources:
About GitHub Copilot Memory: https://docs.github.com/en/copilot/concepts/agents/copilot-memory
Usage-based billing for organizations and enterprises: https://docs.github.com/en/copilot/concepts/billing-and-usage/organizations-and-enterprises/billing
GitHub Copilot licenses: https://docs.github.com/en/billing/concepts/product-billing/github-copilot-licenses
Managing Copilot Memory for your personal account: https://docs.github.com/en/copilot/how-tos/use-copilot-agents/copilot-memory/manage-for-yourself,Official icons from Primer Octicons under MIT; see THIRD_PARTY_NOTICES.md. Other diagrams are original Runway artwork.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1-1.png"/><Relationship Id="rId2" Type="http://schemas.openxmlformats.org/officeDocument/2006/relationships/image" Target="../media/image-1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docs.github.com/en/copilot/concepts/agents/copilot-memory" TargetMode="External"/><Relationship Id="rId4" Type="http://schemas.openxmlformats.org/officeDocument/2006/relationships/hyperlink" Target="https://docs.github.com/en/copilot/concepts/billing-and-usage/organizations-and-enterprises/billing" TargetMode="External"/><Relationship Id="rId5" Type="http://schemas.openxmlformats.org/officeDocument/2006/relationships/hyperlink" Target="https://docs.github.com/en/billing/concepts/product-billing/github-copilot-licenses" TargetMode="External"/><Relationship Id="rId1" Type="http://schemas.openxmlformats.org/officeDocument/2006/relationships/image" Target="../media/image-2-1.png"/><Relationship Id="rId2" Type="http://schemas.openxmlformats.org/officeDocument/2006/relationships/image" Target="../media/image-2-2.sv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292929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960120"/>
            <a:ext cx="640080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3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PUBLIC PREVIEW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548640" y="1325880"/>
            <a:ext cx="662940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800" b="1" dirty="0">
                <a:solidFill>
                  <a:srgbClr val="DEDEDE"/>
                </a:solidFill>
                <a:latin typeface="Aptos Display" pitchFamily="34" charset="0"/>
                <a:ea typeface="Aptos Display" pitchFamily="34" charset="-122"/>
                <a:cs typeface="Aptos Display" pitchFamily="34" charset="-120"/>
              </a:rPr>
              <a:t>Copilot Memory</a:t>
            </a:r>
            <a:endParaRPr lang="en-US" sz="3800" dirty="0"/>
          </a:p>
        </p:txBody>
      </p:sp>
      <p:sp>
        <p:nvSpPr>
          <p:cNvPr id="9" name="Text 6"/>
          <p:cNvSpPr/>
          <p:nvPr/>
        </p:nvSpPr>
        <p:spPr>
          <a:xfrm>
            <a:off x="548640" y="2148840"/>
            <a:ext cx="63550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repository context reusable, without hiding its governance.</a:t>
            </a:r>
            <a:endParaRPr lang="en-US" sz="1800" dirty="0"/>
          </a:p>
        </p:txBody>
      </p:sp>
      <p:sp>
        <p:nvSpPr>
          <p:cNvPr id="10" name="Shape 7"/>
          <p:cNvSpPr/>
          <p:nvPr/>
        </p:nvSpPr>
        <p:spPr>
          <a:xfrm>
            <a:off x="548640" y="3026664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548640" y="3044952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1</a:t>
            </a:r>
            <a:endParaRPr lang="en-US" sz="1100" dirty="0"/>
          </a:p>
        </p:txBody>
      </p:sp>
      <p:sp>
        <p:nvSpPr>
          <p:cNvPr id="12" name="Text 9"/>
          <p:cNvSpPr/>
          <p:nvPr/>
        </p:nvSpPr>
        <p:spPr>
          <a:xfrm>
            <a:off x="1051560" y="2990088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Reduce repeated explanations of verified repository conventions.</a:t>
            </a:r>
            <a:endParaRPr lang="en-US" sz="1500" dirty="0"/>
          </a:p>
        </p:txBody>
      </p:sp>
      <p:sp>
        <p:nvSpPr>
          <p:cNvPr id="13" name="Shape 10"/>
          <p:cNvSpPr/>
          <p:nvPr/>
        </p:nvSpPr>
        <p:spPr>
          <a:xfrm>
            <a:off x="548640" y="3785616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4" name="Text 11"/>
          <p:cNvSpPr/>
          <p:nvPr/>
        </p:nvSpPr>
        <p:spPr>
          <a:xfrm>
            <a:off x="548640" y="3803904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</a:t>
            </a:r>
            <a:endParaRPr lang="en-US" sz="1100" dirty="0"/>
          </a:p>
        </p:txBody>
      </p:sp>
      <p:sp>
        <p:nvSpPr>
          <p:cNvPr id="15" name="Text 12"/>
          <p:cNvSpPr/>
          <p:nvPr/>
        </p:nvSpPr>
        <p:spPr>
          <a:xfrm>
            <a:off x="1051560" y="3749040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Reuse repository facts across supported Copilot surfaces.</a:t>
            </a:r>
            <a:endParaRPr lang="en-US" sz="1500" dirty="0"/>
          </a:p>
        </p:txBody>
      </p:sp>
      <p:sp>
        <p:nvSpPr>
          <p:cNvPr id="16" name="Shape 13"/>
          <p:cNvSpPr/>
          <p:nvPr/>
        </p:nvSpPr>
        <p:spPr>
          <a:xfrm>
            <a:off x="548640" y="4544568"/>
            <a:ext cx="320040" cy="320040"/>
          </a:xfrm>
          <a:prstGeom prst="ellipse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17" name="Text 14"/>
          <p:cNvSpPr/>
          <p:nvPr/>
        </p:nvSpPr>
        <p:spPr>
          <a:xfrm>
            <a:off x="548640" y="4562856"/>
            <a:ext cx="3200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292929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3</a:t>
            </a:r>
            <a:endParaRPr lang="en-US" sz="1100" dirty="0"/>
          </a:p>
        </p:txBody>
      </p:sp>
      <p:sp>
        <p:nvSpPr>
          <p:cNvPr id="18" name="Text 15"/>
          <p:cNvSpPr/>
          <p:nvPr/>
        </p:nvSpPr>
        <p:spPr>
          <a:xfrm>
            <a:off x="1051560" y="4507992"/>
            <a:ext cx="5486400" cy="58521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Make context ownership and deletion a visible part of the adoption story.</a:t>
            </a:r>
            <a:endParaRPr lang="en-US" sz="1500" dirty="0"/>
          </a:p>
        </p:txBody>
      </p:sp>
      <p:sp>
        <p:nvSpPr>
          <p:cNvPr id="19" name="Shape 16"/>
          <p:cNvSpPr/>
          <p:nvPr/>
        </p:nvSpPr>
        <p:spPr>
          <a:xfrm>
            <a:off x="7315200" y="1051560"/>
            <a:ext cx="4325112" cy="4453128"/>
          </a:xfrm>
          <a:prstGeom prst="roundRect">
            <a:avLst>
              <a:gd name="adj" fmla="val 2537"/>
            </a:avLst>
          </a:prstGeom>
          <a:solidFill>
            <a:srgbClr val="343231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0" name="Text 17"/>
          <p:cNvSpPr/>
          <p:nvPr/>
        </p:nvSpPr>
        <p:spPr>
          <a:xfrm>
            <a:off x="7607808" y="1344168"/>
            <a:ext cx="3739896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120" kern="0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CONTROL STORY</a:t>
            </a:r>
            <a:endParaRPr lang="en-US" sz="1000" dirty="0"/>
          </a:p>
        </p:txBody>
      </p:sp>
      <p:sp>
        <p:nvSpPr>
          <p:cNvPr id="21" name="Shape 18"/>
          <p:cNvSpPr/>
          <p:nvPr/>
        </p:nvSpPr>
        <p:spPr>
          <a:xfrm>
            <a:off x="7644384" y="1828800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2" name="Text 19"/>
          <p:cNvSpPr/>
          <p:nvPr/>
        </p:nvSpPr>
        <p:spPr>
          <a:xfrm>
            <a:off x="7845552" y="1984248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Cited repository fact</a:t>
            </a:r>
            <a:endParaRPr lang="en-US" sz="1600" dirty="0"/>
          </a:p>
        </p:txBody>
      </p:sp>
      <p:sp>
        <p:nvSpPr>
          <p:cNvPr id="23" name="Shape 20"/>
          <p:cNvSpPr/>
          <p:nvPr/>
        </p:nvSpPr>
        <p:spPr>
          <a:xfrm>
            <a:off x="9262872" y="2523744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7644384" y="2816352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5" name="Text 22"/>
          <p:cNvSpPr/>
          <p:nvPr/>
        </p:nvSpPr>
        <p:spPr>
          <a:xfrm>
            <a:off x="7845552" y="2971800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Validate in new session</a:t>
            </a:r>
            <a:endParaRPr lang="en-US" sz="1600" dirty="0"/>
          </a:p>
        </p:txBody>
      </p:sp>
      <p:sp>
        <p:nvSpPr>
          <p:cNvPr id="26" name="Shape 23"/>
          <p:cNvSpPr/>
          <p:nvPr/>
        </p:nvSpPr>
        <p:spPr>
          <a:xfrm>
            <a:off x="9262872" y="3511296"/>
            <a:ext cx="384048" cy="182880"/>
          </a:xfrm>
          <a:prstGeom prst="downArrow">
            <a:avLst/>
          </a:prstGeom>
          <a:solidFill>
            <a:srgbClr val="FD8EA1"/>
          </a:solidFill>
          <a:ln w="12700">
            <a:solidFill>
              <a:srgbClr val="FD8EA1"/>
            </a:solidFill>
            <a:prstDash val="solid"/>
          </a:ln>
        </p:spPr>
      </p:sp>
      <p:sp>
        <p:nvSpPr>
          <p:cNvPr id="27" name="Shape 24"/>
          <p:cNvSpPr/>
          <p:nvPr/>
        </p:nvSpPr>
        <p:spPr>
          <a:xfrm>
            <a:off x="7644384" y="3803904"/>
            <a:ext cx="3657600" cy="612648"/>
          </a:xfrm>
          <a:prstGeom prst="roundRect">
            <a:avLst>
              <a:gd name="adj" fmla="val 17910"/>
            </a:avLst>
          </a:prstGeom>
          <a:solidFill>
            <a:srgbClr val="292929"/>
          </a:solidFill>
          <a:ln w="10160">
            <a:solidFill>
              <a:srgbClr val="474747"/>
            </a:solidFill>
            <a:prstDash val="solid"/>
          </a:ln>
        </p:spPr>
      </p:sp>
      <p:sp>
        <p:nvSpPr>
          <p:cNvPr id="28" name="Text 25"/>
          <p:cNvSpPr/>
          <p:nvPr/>
        </p:nvSpPr>
        <p:spPr>
          <a:xfrm>
            <a:off x="7845552" y="3959352"/>
            <a:ext cx="3255264" cy="30175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EDEDE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Owner-managed deletion</a:t>
            </a:r>
            <a:endParaRPr lang="en-US" sz="1600" dirty="0"/>
          </a:p>
        </p:txBody>
      </p:sp>
      <p:sp>
        <p:nvSpPr>
          <p:cNvPr id="29" name="Text 26"/>
          <p:cNvSpPr/>
          <p:nvPr/>
        </p:nvSpPr>
        <p:spPr>
          <a:xfrm>
            <a:off x="7644384" y="4992624"/>
            <a:ext cx="365760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Observe the boundary, not just the happy path.</a:t>
            </a:r>
            <a:endParaRPr lang="en-US" sz="1100" dirty="0"/>
          </a:p>
        </p:txBody>
      </p:sp>
      <p:sp>
        <p:nvSpPr>
          <p:cNvPr id="30" name="Text 27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B0B0B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FD8EA1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Official GitHub Copilot icon, Primer Octicons">    </p:cNvPr>
          <p:cNvPicPr>
            <a:picLocks noChangeAspect="1"/>
          </p:cNvPicPr>
          <p:nvPr/>
        </p:nvPicPr>
        <p:blipFill>
          <a:blip r:embed="rId1">
            <a:extLst>
              <a:ext uri="{96DAC541-7B7A-43D3-8B79-37D633B846F1}">
                <asvg:svgBlip xmlns:asvg="http://schemas.microsoft.com/office/drawing/2016/SVG/main" r:embed="rId2"/>
              </a:ext>
            </a:extLst>
          </a:blip>
          <a:stretch>
            <a:fillRect/>
          </a:stretch>
        </p:blipFill>
        <p:spPr>
          <a:xfrm>
            <a:off x="548640" y="475488"/>
            <a:ext cx="292608" cy="292608"/>
          </a:xfrm>
          <a:prstGeom prst="rect">
            <a:avLst/>
          </a:prstGeom>
        </p:spPr>
      </p:pic>
      <p:sp>
        <p:nvSpPr>
          <p:cNvPr id="3" name="Text 0"/>
          <p:cNvSpPr/>
          <p:nvPr/>
        </p:nvSpPr>
        <p:spPr>
          <a:xfrm>
            <a:off x="932688" y="502920"/>
            <a:ext cx="2834640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4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RUNWAY</a:t>
            </a:r>
            <a:endParaRPr lang="en-US" sz="1100" dirty="0"/>
          </a:p>
        </p:txBody>
      </p:sp>
      <p:sp>
        <p:nvSpPr>
          <p:cNvPr id="4" name="Text 1"/>
          <p:cNvSpPr/>
          <p:nvPr/>
        </p:nvSpPr>
        <p:spPr>
          <a:xfrm>
            <a:off x="7680960" y="502920"/>
            <a:ext cx="3959352" cy="21945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000" spc="100" kern="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EVALUATE. EXPLAIN. DEMO.</a:t>
            </a:r>
            <a:endParaRPr lang="en-US" sz="1000" dirty="0"/>
          </a:p>
        </p:txBody>
      </p:sp>
      <p:sp>
        <p:nvSpPr>
          <p:cNvPr id="5" name="Text 2"/>
          <p:cNvSpPr/>
          <p:nvPr/>
        </p:nvSpPr>
        <p:spPr>
          <a:xfrm>
            <a:off x="548640" y="6236208"/>
            <a:ext cx="9692640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Independent initiative. Not an official GitHub or Microsoft product.  |  Reviewed 2026-10-14</a:t>
            </a:r>
            <a:endParaRPr lang="en-US" sz="850" dirty="0"/>
          </a:p>
        </p:txBody>
      </p:sp>
      <p:sp>
        <p:nvSpPr>
          <p:cNvPr id="6" name="Text 3"/>
          <p:cNvSpPr/>
          <p:nvPr/>
        </p:nvSpPr>
        <p:spPr>
          <a:xfrm>
            <a:off x="10515600" y="6236208"/>
            <a:ext cx="1124712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85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2 / 2</a:t>
            </a:r>
            <a:endParaRPr lang="en-US" sz="850" dirty="0"/>
          </a:p>
        </p:txBody>
      </p:sp>
      <p:sp>
        <p:nvSpPr>
          <p:cNvPr id="7" name="Text 4"/>
          <p:cNvSpPr/>
          <p:nvPr/>
        </p:nvSpPr>
        <p:spPr>
          <a:xfrm>
            <a:off x="548640" y="1005840"/>
            <a:ext cx="11091672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Pilot with conditions</a:t>
            </a:r>
            <a:endParaRPr lang="en-US" sz="3000" dirty="0"/>
          </a:p>
        </p:txBody>
      </p:sp>
      <p:sp>
        <p:nvSpPr>
          <p:cNvPr id="8" name="Text 5"/>
          <p:cNvSpPr/>
          <p:nvPr/>
        </p:nvSpPr>
        <p:spPr>
          <a:xfrm>
            <a:off x="548640" y="1636776"/>
            <a:ext cx="11091672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Copilot Memory  |  Controlled pilot, not production certification</a:t>
            </a:r>
            <a:endParaRPr lang="en-US" sz="1400" dirty="0"/>
          </a:p>
        </p:txBody>
      </p:sp>
      <p:sp>
        <p:nvSpPr>
          <p:cNvPr id="9" name="Text 6"/>
          <p:cNvSpPr/>
          <p:nvPr/>
        </p:nvSpPr>
        <p:spPr>
          <a:xfrm>
            <a:off x="548640" y="2130552"/>
            <a:ext cx="585216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100" kern="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NON-NEGOTIABLE GATES</a:t>
            </a:r>
            <a:endParaRPr lang="en-US" sz="1100" dirty="0"/>
          </a:p>
        </p:txBody>
      </p:sp>
      <p:sp>
        <p:nvSpPr>
          <p:cNvPr id="10" name="Text 7"/>
          <p:cNvSpPr/>
          <p:nvPr/>
        </p:nvSpPr>
        <p:spPr>
          <a:xfrm>
            <a:off x="54864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Documented availability</a:t>
            </a:r>
            <a:endParaRPr lang="en-US" sz="1200" dirty="0"/>
          </a:p>
        </p:txBody>
      </p:sp>
      <p:sp>
        <p:nvSpPr>
          <p:cNvPr id="11" name="Text 8"/>
          <p:cNvSpPr/>
          <p:nvPr/>
        </p:nvSpPr>
        <p:spPr>
          <a:xfrm>
            <a:off x="54864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15803D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PASS</a:t>
            </a:r>
            <a:endParaRPr lang="en-US" sz="900" dirty="0"/>
          </a:p>
        </p:txBody>
      </p:sp>
      <p:sp>
        <p:nvSpPr>
          <p:cNvPr id="12" name="Text 9"/>
          <p:cNvSpPr/>
          <p:nvPr/>
        </p:nvSpPr>
        <p:spPr>
          <a:xfrm>
            <a:off x="54864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Enforceable admin control</a:t>
            </a:r>
            <a:endParaRPr lang="en-US" sz="1200" dirty="0"/>
          </a:p>
        </p:txBody>
      </p:sp>
      <p:sp>
        <p:nvSpPr>
          <p:cNvPr id="13" name="Text 10"/>
          <p:cNvSpPr/>
          <p:nvPr/>
        </p:nvSpPr>
        <p:spPr>
          <a:xfrm>
            <a:off x="54864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4" name="Text 11"/>
          <p:cNvSpPr/>
          <p:nvPr/>
        </p:nvSpPr>
        <p:spPr>
          <a:xfrm>
            <a:off x="54864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Least-privilege identity</a:t>
            </a:r>
            <a:endParaRPr lang="en-US" sz="1200" dirty="0"/>
          </a:p>
        </p:txBody>
      </p:sp>
      <p:sp>
        <p:nvSpPr>
          <p:cNvPr id="15" name="Text 12"/>
          <p:cNvSpPr/>
          <p:nvPr/>
        </p:nvSpPr>
        <p:spPr>
          <a:xfrm>
            <a:off x="54864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6" name="Text 13"/>
          <p:cNvSpPr/>
          <p:nvPr/>
        </p:nvSpPr>
        <p:spPr>
          <a:xfrm>
            <a:off x="54864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data boundary</a:t>
            </a:r>
            <a:endParaRPr lang="en-US" sz="1200" dirty="0"/>
          </a:p>
        </p:txBody>
      </p:sp>
      <p:sp>
        <p:nvSpPr>
          <p:cNvPr id="17" name="Text 14"/>
          <p:cNvSpPr/>
          <p:nvPr/>
        </p:nvSpPr>
        <p:spPr>
          <a:xfrm>
            <a:off x="54864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18" name="Text 15"/>
          <p:cNvSpPr/>
          <p:nvPr/>
        </p:nvSpPr>
        <p:spPr>
          <a:xfrm>
            <a:off x="54864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Human control for impact</a:t>
            </a:r>
            <a:endParaRPr lang="en-US" sz="1200" dirty="0"/>
          </a:p>
        </p:txBody>
      </p:sp>
      <p:sp>
        <p:nvSpPr>
          <p:cNvPr id="19" name="Text 16"/>
          <p:cNvSpPr/>
          <p:nvPr/>
        </p:nvSpPr>
        <p:spPr>
          <a:xfrm>
            <a:off x="54864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0" name="Text 17"/>
          <p:cNvSpPr/>
          <p:nvPr/>
        </p:nvSpPr>
        <p:spPr>
          <a:xfrm>
            <a:off x="3657600" y="2606040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Traceable activity</a:t>
            </a:r>
            <a:endParaRPr lang="en-US" sz="1200" dirty="0"/>
          </a:p>
        </p:txBody>
      </p:sp>
      <p:sp>
        <p:nvSpPr>
          <p:cNvPr id="21" name="Text 18"/>
          <p:cNvSpPr/>
          <p:nvPr/>
        </p:nvSpPr>
        <p:spPr>
          <a:xfrm>
            <a:off x="3657600" y="2852928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2" name="Text 19"/>
          <p:cNvSpPr/>
          <p:nvPr/>
        </p:nvSpPr>
        <p:spPr>
          <a:xfrm>
            <a:off x="3657600" y="3163824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Owned and bounded spend</a:t>
            </a:r>
            <a:endParaRPr lang="en-US" sz="1200" dirty="0"/>
          </a:p>
        </p:txBody>
      </p:sp>
      <p:sp>
        <p:nvSpPr>
          <p:cNvPr id="23" name="Text 20"/>
          <p:cNvSpPr/>
          <p:nvPr/>
        </p:nvSpPr>
        <p:spPr>
          <a:xfrm>
            <a:off x="3657600" y="3410712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4" name="Text 21"/>
          <p:cNvSpPr/>
          <p:nvPr/>
        </p:nvSpPr>
        <p:spPr>
          <a:xfrm>
            <a:off x="3657600" y="3721608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Approved network path</a:t>
            </a:r>
            <a:endParaRPr lang="en-US" sz="1200" dirty="0"/>
          </a:p>
        </p:txBody>
      </p:sp>
      <p:sp>
        <p:nvSpPr>
          <p:cNvPr id="25" name="Text 22"/>
          <p:cNvSpPr/>
          <p:nvPr/>
        </p:nvSpPr>
        <p:spPr>
          <a:xfrm>
            <a:off x="3657600" y="3968496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6" name="Text 23"/>
          <p:cNvSpPr/>
          <p:nvPr/>
        </p:nvSpPr>
        <p:spPr>
          <a:xfrm>
            <a:off x="3657600" y="4279392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Supported pilot operation</a:t>
            </a:r>
            <a:endParaRPr lang="en-US" sz="1200" dirty="0"/>
          </a:p>
        </p:txBody>
      </p:sp>
      <p:sp>
        <p:nvSpPr>
          <p:cNvPr id="27" name="Text 24"/>
          <p:cNvSpPr/>
          <p:nvPr/>
        </p:nvSpPr>
        <p:spPr>
          <a:xfrm>
            <a:off x="3657600" y="4526280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28" name="Text 25"/>
          <p:cNvSpPr/>
          <p:nvPr/>
        </p:nvSpPr>
        <p:spPr>
          <a:xfrm>
            <a:off x="3657600" y="4837176"/>
            <a:ext cx="27432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Reversible by design</a:t>
            </a:r>
            <a:endParaRPr lang="en-US" sz="1200" dirty="0"/>
          </a:p>
        </p:txBody>
      </p:sp>
      <p:sp>
        <p:nvSpPr>
          <p:cNvPr id="29" name="Text 26"/>
          <p:cNvSpPr/>
          <p:nvPr/>
        </p:nvSpPr>
        <p:spPr>
          <a:xfrm>
            <a:off x="3657600" y="5084064"/>
            <a:ext cx="274320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900" b="1" spc="80" kern="0" dirty="0">
                <a:solidFill>
                  <a:srgbClr val="925A00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CONDITIONAL</a:t>
            </a:r>
            <a:endParaRPr lang="en-US" sz="900" dirty="0"/>
          </a:p>
        </p:txBody>
      </p:sp>
      <p:sp>
        <p:nvSpPr>
          <p:cNvPr id="30" name="Text 27"/>
          <p:cNvSpPr/>
          <p:nvPr/>
        </p:nvSpPr>
        <p:spPr>
          <a:xfrm>
            <a:off x="548640" y="5504688"/>
            <a:ext cx="5806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Unknowns block. Conditions need tenant evidence and a named owner.</a:t>
            </a:r>
            <a:endParaRPr lang="en-US" sz="1000" dirty="0"/>
          </a:p>
        </p:txBody>
      </p:sp>
      <p:sp>
        <p:nvSpPr>
          <p:cNvPr id="31" name="Shape 28"/>
          <p:cNvSpPr/>
          <p:nvPr/>
        </p:nvSpPr>
        <p:spPr>
          <a:xfrm>
            <a:off x="6995160" y="2130552"/>
            <a:ext cx="4645152" cy="2852928"/>
          </a:xfrm>
          <a:prstGeom prst="roundRect">
            <a:avLst>
              <a:gd name="adj" fmla="val 3846"/>
            </a:avLst>
          </a:prstGeom>
          <a:solidFill>
            <a:srgbClr val="FFFFFF"/>
          </a:solidFill>
          <a:ln w="10160">
            <a:solidFill>
              <a:srgbClr val="DEDEDE"/>
            </a:solidFill>
            <a:prstDash val="solid"/>
          </a:ln>
        </p:spPr>
      </p:sp>
      <p:sp>
        <p:nvSpPr>
          <p:cNvPr id="32" name="Text 29"/>
          <p:cNvSpPr/>
          <p:nvPr/>
        </p:nvSpPr>
        <p:spPr>
          <a:xfrm>
            <a:off x="7223760" y="2340864"/>
            <a:ext cx="41879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spc="80" kern="0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COST, WITH ASSUMPTIONS</a:t>
            </a:r>
            <a:endParaRPr lang="en-US" sz="1000" dirty="0"/>
          </a:p>
        </p:txBody>
      </p:sp>
      <p:sp>
        <p:nvSpPr>
          <p:cNvPr id="33" name="Text 30"/>
          <p:cNvSpPr/>
          <p:nvPr/>
        </p:nvSpPr>
        <p:spPr>
          <a:xfrm>
            <a:off x="7223760" y="2734056"/>
            <a:ext cx="4187952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AI usage applies; no separate Memory price verified.</a:t>
            </a:r>
            <a:endParaRPr lang="en-US" sz="1600" dirty="0"/>
          </a:p>
        </p:txBody>
      </p:sp>
      <p:sp>
        <p:nvSpPr>
          <p:cNvPr id="34" name="Text 31"/>
          <p:cNvSpPr/>
          <p:nvPr/>
        </p:nvSpPr>
        <p:spPr>
          <a:xfrm>
            <a:off x="7223760" y="3529584"/>
            <a:ext cx="4187952" cy="1234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2424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The reviewed Memory documentation does not specify a standalone memory-storage tariff. The underlying CLI, cloud-agent, and other model interactions still follow their billing model. Do not describe memory as unlimited or free because no separate price is listed.</a:t>
            </a:r>
            <a:endParaRPr lang="en-US" sz="1150" dirty="0"/>
          </a:p>
        </p:txBody>
      </p:sp>
      <p:sp>
        <p:nvSpPr>
          <p:cNvPr id="35" name="Text 32"/>
          <p:cNvSpPr/>
          <p:nvPr/>
        </p:nvSpPr>
        <p:spPr>
          <a:xfrm>
            <a:off x="6995160" y="5212080"/>
            <a:ext cx="4645152" cy="21031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b="1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DEMO 8 MIN  |  KIT: TESTED  |  LIVE: NOT RUN</a:t>
            </a:r>
            <a:endParaRPr lang="en-US" sz="1000" dirty="0"/>
          </a:p>
        </p:txBody>
      </p:sp>
      <p:sp>
        <p:nvSpPr>
          <p:cNvPr id="36" name="Text 33"/>
          <p:cNvSpPr/>
          <p:nvPr/>
        </p:nvSpPr>
        <p:spPr>
          <a:xfrm>
            <a:off x="6995160" y="5495544"/>
            <a:ext cx="4645152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2424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npm run demo:setup -- copilot-memory</a:t>
            </a:r>
            <a:endParaRPr lang="en-US" sz="1050" dirty="0"/>
          </a:p>
        </p:txBody>
      </p:sp>
      <p:sp>
        <p:nvSpPr>
          <p:cNvPr id="37" name="Text 34"/>
          <p:cNvSpPr/>
          <p:nvPr/>
        </p:nvSpPr>
        <p:spPr>
          <a:xfrm>
            <a:off x="548640" y="5897880"/>
            <a:ext cx="11091672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Primary sources: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3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Memory documentation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4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Enterprise AI-credit billing</a:t>
            </a:r>
            <a:pPr indent="0" marL="0">
              <a:buNone/>
            </a:pPr>
            <a:r>
              <a:rPr lang="en-US" sz="1000" dirty="0">
                <a:solidFill>
                  <a:srgbClr val="5C5C5C"/>
                </a:solidFill>
                <a:latin typeface="Aptos" pitchFamily="34" charset="0"/>
                <a:ea typeface="Aptos" pitchFamily="34" charset="-122"/>
                <a:cs typeface="Aptos" pitchFamily="34" charset="-120"/>
              </a:rPr>
              <a:t>  |  </a:t>
            </a:r>
            <a:pPr indent="0" marL="0">
              <a:buNone/>
            </a:pPr>
            <a:r>
              <a:rPr lang="en-US" sz="1000" u="sng" dirty="0">
                <a:solidFill>
                  <a:srgbClr val="B11F4B"/>
                </a:solidFill>
                <a:latin typeface="Aptos" pitchFamily="34" charset="0"/>
                <a:ea typeface="Aptos" pitchFamily="34" charset="-122"/>
                <a:cs typeface="Aptos" pitchFamily="34" charset="-120"/>
                <a:hlinkClick r:id="rId5" invalidUrl="" action="" tgtFrame="" tooltip="" history="1" highlightClick="0" endSnd="0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Copilot licenses</a:t>
            </a:r>
            <a:endParaRPr lang="en-US" sz="1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ptos Display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</vt:i4>
      </vt:variant>
    </vt:vector>
  </HeadingPairs>
  <TitlesOfParts>
    <vt:vector size="5" baseType="lpstr">
      <vt:lpstr>Arial</vt:lpstr>
      <vt:lpstr>Calibri</vt:lpstr>
      <vt:lpstr>Office Theme</vt:lpstr>
      <vt:lpstr>Slide 1</vt:lpstr>
      <vt:lpstr>Slide 2</vt:lpstr>
    </vt:vector>
  </TitlesOfParts>
  <Company>Copilot Runway (independent initiative)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Copilot Memory: value, cost, and readiness</dc:title>
  <dc:subject>Independent, evidence-backed enablement for Cloud Solution Architects</dc:subject>
  <dc:creator>Copilot Runway</dc:creator>
  <cp:lastModifiedBy>Copilot Runway</cp:lastModifiedBy>
  <cp:revision>1</cp:revision>
  <dcterms:created xsi:type="dcterms:W3CDTF">2026-10-19T03:20:25Z</dcterms:created>
  <dcterms:modified xsi:type="dcterms:W3CDTF">2026-10-19T03:20:25Z</dcterms:modified>
</cp:coreProperties>
</file>